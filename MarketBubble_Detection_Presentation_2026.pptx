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40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1">
                <a:solidFill>
                  <a:srgbClr val="409CFF"/>
                </a:solidFill>
                <a:latin typeface="Inter"/>
              </a:defRPr>
            </a:pPr>
            <a:r>
              <a:t>MULTIDIMENSIONAL ECONOMETRIC &amp; QUANTITATIVE DETECTION OF MARKET BUBBLES</a:t>
            </a:r>
          </a:p>
          <a:p>
            <a:pPr>
              <a:spcAft>
                <a:spcPts val="2400"/>
              </a:spcAft>
              <a:defRPr sz="1800" b="1">
                <a:solidFill>
                  <a:srgbClr val="F2F2F7"/>
                </a:solidFill>
                <a:latin typeface="Inter"/>
              </a:defRPr>
            </a:pPr>
            <a:r>
              <a:t>A Structural Analysis of the 2026 Macroeconomic Environment &amp; System Implementation</a:t>
            </a:r>
          </a:p>
          <a:p>
            <a:pPr>
              <a:defRPr sz="1300">
                <a:solidFill>
                  <a:srgbClr val="AEAEC0"/>
                </a:solidFill>
                <a:latin typeface="Inter"/>
              </a:defRPr>
            </a:pPr>
            <a:r>
              <a:t>Author: PhD Econometrics &amp; Quantitative Risk Advisory Team</a:t>
            </a:r>
            <a:br/>
            <a:r>
              <a:t>Target Audience: C-Suite Executives, Quantitative Risk Experts &amp; System Engineers</a:t>
            </a:r>
            <a:br/>
            <a:r>
              <a:t>Validation Threshold: All retained methodologies exceed 0.87 Confidence Score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09CFF"/>
                </a:solidFill>
                <a:latin typeface="Inter"/>
              </a:defRPr>
            </a:pPr>
            <a:r>
              <a:t>SECTION 1: KEY FINDINGS   |   AUDIENCE: C-LEVEL / MBA AUDIENCE   |   CONFIDENCE SCORE: 0.94</a:t>
            </a:r>
          </a:p>
          <a:p>
            <a:pPr>
              <a:defRPr sz="2200" b="1">
                <a:solidFill>
                  <a:srgbClr val="F2F2F7"/>
                </a:solidFill>
                <a:latin typeface="Inter"/>
              </a:defRPr>
            </a:pPr>
            <a:r>
              <a:t>Executive Summary: Macroeconomic Fragility at S&amp;P 7,500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2560320" cy="1005840"/>
          </a:xfrm>
          <a:prstGeom prst="roundRect">
            <a:avLst/>
          </a:prstGeom>
          <a:solidFill>
            <a:srgbClr val="2C2C2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377439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2000" b="1">
                <a:solidFill>
                  <a:srgbClr val="409CFF"/>
                </a:solidFill>
                <a:latin typeface="Inter"/>
              </a:defRPr>
            </a:pPr>
            <a:r>
              <a:t>7,500 Peak</a:t>
            </a:r>
          </a:p>
          <a:p>
            <a:pPr algn="ctr">
              <a:defRPr sz="900" b="1">
                <a:solidFill>
                  <a:srgbClr val="AEAEC0"/>
                </a:solidFill>
                <a:latin typeface="Inter"/>
              </a:defRPr>
            </a:pPr>
            <a:r>
              <a:t>S&amp;P 500 LEVEL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280160"/>
            <a:ext cx="2560320" cy="1005840"/>
          </a:xfrm>
          <a:prstGeom prst="roundRect">
            <a:avLst/>
          </a:prstGeom>
          <a:solidFill>
            <a:srgbClr val="2C2C2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1371600"/>
            <a:ext cx="2377439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2000" b="1">
                <a:solidFill>
                  <a:srgbClr val="FF453A"/>
                </a:solidFill>
                <a:latin typeface="Inter"/>
              </a:defRPr>
            </a:pPr>
            <a:r>
              <a:t>41.37</a:t>
            </a:r>
          </a:p>
          <a:p>
            <a:pPr algn="ctr">
              <a:defRPr sz="900" b="1">
                <a:solidFill>
                  <a:srgbClr val="AEAEC0"/>
                </a:solidFill>
                <a:latin typeface="Inter"/>
              </a:defRPr>
            </a:pPr>
            <a:r>
              <a:t>SHILLER CAPE RATIO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2560320" cy="1005840"/>
          </a:xfrm>
          <a:prstGeom prst="roundRect">
            <a:avLst/>
          </a:prstGeom>
          <a:solidFill>
            <a:srgbClr val="2C2C2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59" y="1371600"/>
            <a:ext cx="2377439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2000" b="1">
                <a:solidFill>
                  <a:srgbClr val="FF453A"/>
                </a:solidFill>
                <a:latin typeface="Inter"/>
              </a:defRPr>
            </a:pPr>
            <a:r>
              <a:t>$1.416 Trillion</a:t>
            </a:r>
          </a:p>
          <a:p>
            <a:pPr algn="ctr">
              <a:defRPr sz="900" b="1">
                <a:solidFill>
                  <a:srgbClr val="AEAEC0"/>
                </a:solidFill>
                <a:latin typeface="Inter"/>
              </a:defRPr>
            </a:pPr>
            <a:r>
              <a:t>FINRA MARGIN DEBT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280160"/>
            <a:ext cx="2560320" cy="1005840"/>
          </a:xfrm>
          <a:prstGeom prst="roundRect">
            <a:avLst/>
          </a:prstGeom>
          <a:solidFill>
            <a:srgbClr val="2C2C2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371600"/>
            <a:ext cx="2377439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2000" b="1">
                <a:solidFill>
                  <a:srgbClr val="FFD60A"/>
                </a:solidFill>
                <a:latin typeface="Inter"/>
              </a:defRPr>
            </a:pPr>
            <a:r>
              <a:t>218.1% GDP</a:t>
            </a:r>
          </a:p>
          <a:p>
            <a:pPr algn="ctr">
              <a:defRPr sz="900" b="1">
                <a:solidFill>
                  <a:srgbClr val="AEAEC0"/>
                </a:solidFill>
                <a:latin typeface="Inter"/>
              </a:defRPr>
            </a:pPr>
            <a:r>
              <a:t>BUFFETT INDICATOR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60320"/>
            <a:ext cx="5394960" cy="384048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09CFF"/>
                </a:solidFill>
                <a:latin typeface="Inter"/>
              </a:defRPr>
            </a:pPr>
            <a:r>
              <a:t>Core Thesis: Valuation Extreme vs. Fundamental Repricing</a:t>
            </a:r>
          </a:p>
          <a:p>
            <a:pPr>
              <a:defRPr sz="1300">
                <a:solidFill>
                  <a:srgbClr val="F2F2F7"/>
                </a:solidFill>
                <a:latin typeface="Inter"/>
              </a:defRPr>
            </a:pPr>
            <a:r>
              <a:t>• S&amp;P 500 near 7,500 creates an unprecedented diagnostic challenge: distinguishing genuine AI technological supercycles from pure speculative exuberance.</a:t>
            </a:r>
            <a:br/>
            <a:br/>
            <a:r>
              <a:t>• Shiller CAPE at 41.37 represents the 2nd highest valuation epoch in U.S. history, trailing only the 2000 dot-com peak (44.19).</a:t>
            </a:r>
            <a:br/>
            <a:br/>
            <a:r>
              <a:t>• Market Capitalization to GDP (Buffett Indicator) reached 218.1%, resting 56.6% above long-term economic trendlines.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94960" cy="384048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74320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453A"/>
                </a:solidFill>
                <a:latin typeface="Inter"/>
              </a:defRPr>
            </a:pPr>
            <a:r>
              <a:t>Systemic Risk Catalysts &amp; Options Divergence</a:t>
            </a:r>
          </a:p>
          <a:p>
            <a:pPr>
              <a:defRPr sz="1300">
                <a:solidFill>
                  <a:srgbClr val="F2F2F7"/>
                </a:solidFill>
                <a:latin typeface="Inter"/>
              </a:defRPr>
            </a:pPr>
            <a:r>
              <a:t>• Systemic Leverage Exhaustion: Margin debt surged 53.7% YoY to $1.416T, depleting excess borrowing buffer ('Margin Credit Exhaustion') and exposing markets to fire sales.</a:t>
            </a:r>
            <a:br/>
            <a:br/>
            <a:r>
              <a:t>• Options Tail-Risk Alert: While front-month VIX remains suppressed (15-17), CBOE SKEW breached 145+, signaling institutional panic buying of OTM downside protection.</a:t>
            </a:r>
            <a:br/>
            <a:br/>
            <a:r>
              <a:t>• AI CapEx Grounding: GPT-adjusted econometric models confirm mega-cap AI spend ($754B) has real TFP backing, but peripheral small-caps are in full bubble territory.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09CFF"/>
                </a:solidFill>
                <a:latin typeface="Inter"/>
              </a:defRPr>
            </a:pPr>
            <a:r>
              <a:t>SECTION 1: KEY FINDINGS   |   AUDIENCE: EXPERT AUDIENCE   |   CONFIDENCE SCORE: 0.94</a:t>
            </a:r>
          </a:p>
          <a:p>
            <a:pPr>
              <a:defRPr sz="2200" b="1">
                <a:solidFill>
                  <a:srgbClr val="F2F2F7"/>
                </a:solidFill>
                <a:latin typeface="Inter"/>
              </a:defRPr>
            </a:pPr>
            <a:r>
              <a:t>Methodological Confidence Scoring &amp; Exclusion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39496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453A"/>
                </a:solidFill>
                <a:latin typeface="Inter"/>
              </a:defRPr>
            </a:pPr>
            <a:r>
              <a:t>EXCLUDED METHODOLOGIES (Score &lt; 0.87)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1. Prediction Markets (Kalshi / Polymarket) — Score: 0.72</a:t>
            </a:r>
            <a:br/>
            <a:r>
              <a:t>• Empirical study of 5,000+ contracts reveals severe calibration breakdown near expiration.</a:t>
            </a:r>
            <a:br/>
            <a:r>
              <a:t>• High Brier Scores (&gt;0.25) in key economic sectors.</a:t>
            </a:r>
            <a:br/>
            <a:r>
              <a:t>• Susceptible to 'Whale' manipulation &amp; reflexivity (betting signal directly distorts real outcome).</a:t>
            </a:r>
            <a:br/>
            <a:br/>
            <a:r>
              <a:t>2. Extra Trees ML Classifier — Score: 0.86 (86.1% Accuracy)</a:t>
            </a:r>
            <a:br/>
            <a:r>
              <a:t>• Failed 0.87 threshold for systemic risk precision.</a:t>
            </a:r>
            <a:br/>
            <a:r>
              <a:t>• Excluded in favor of deep sequence models (LSTM-RNN &amp; HMM) capable of modeling temporal dependencies.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2D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2D74B"/>
                </a:solidFill>
                <a:latin typeface="Inter"/>
              </a:defRPr>
            </a:pPr>
            <a:r>
              <a:t>RETAINED METHODOLOGIES (Score &gt;= 0.87)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• GPT-Adjusted GSADF / PSY Procedure: 0.96 (Gold standard unit root explosive test)</a:t>
            </a:r>
            <a:br/>
            <a:r>
              <a:t>• Volatility Term Structure Contango: 0.95 (Options pricing mechanics)</a:t>
            </a:r>
            <a:br/>
            <a:r>
              <a:t>• FINRA Margin Credit Exhaustion: 0.94 (Out-of-sample R^2 = 35.68% annual return predictor)</a:t>
            </a:r>
            <a:br/>
            <a:r>
              <a:t>• Advanced Payout-Adjusted CAPE (P-CAPE): 0.92 (Explains 35% variance vs 24% standard CAPE)</a:t>
            </a:r>
            <a:br/>
            <a:r>
              <a:t>• Topological Data Analysis (TDA) &amp; Wavelets: 0.91 (Morlet scaleogram persistent homology)</a:t>
            </a:r>
            <a:br/>
            <a:r>
              <a:t>• Buffett Indicator (Market Cap/GDP): 0.90 (Macro anchor)</a:t>
            </a:r>
            <a:br/>
            <a:r>
              <a:t>• Real Estate Price-to-Income / Rent: 0.89 (Affordability limit)</a:t>
            </a:r>
            <a:br/>
            <a:r>
              <a:t>• NLP LSTM-RNN / HMM Classifiers: 0.89 (Sequence break models)</a:t>
            </a:r>
            <a:br/>
            <a:r>
              <a:t>• LPPLS Super-Exponential Model: 0.88 (Singularity crash date)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09CFF"/>
                </a:solidFill>
                <a:latin typeface="Inter"/>
              </a:defRPr>
            </a:pPr>
            <a:r>
              <a:t>SECTION 1: KEY FINDINGS   |   AUDIENCE: EXPERT AUDIENCE   |   CONFIDENCE SCORE: 0.94</a:t>
            </a:r>
          </a:p>
          <a:p>
            <a:pPr>
              <a:defRPr sz="2200" b="1">
                <a:solidFill>
                  <a:srgbClr val="F2F2F7"/>
                </a:solidFill>
                <a:latin typeface="Inter"/>
              </a:defRPr>
            </a:pPr>
            <a:r>
              <a:t>Macroeconomic &amp; Valuation Extremes in the 2026 Environment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347472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108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09CFF"/>
                </a:solidFill>
                <a:latin typeface="Inter"/>
              </a:defRPr>
            </a:pPr>
            <a:r>
              <a:t>Shiller CAPE &amp; P-CAPE</a:t>
            </a:r>
          </a:p>
          <a:p>
            <a:pPr>
              <a:defRPr sz="1100">
                <a:solidFill>
                  <a:srgbClr val="F2F2F7"/>
                </a:solidFill>
                <a:latin typeface="Inter"/>
              </a:defRPr>
            </a:pPr>
            <a:r>
              <a:t>• CAPE = 41.37 (+10.39% YoY).</a:t>
            </a:r>
            <a:br/>
            <a:r>
              <a:t>• 2nd highest in US history (dot-com peak 44.19).</a:t>
            </a:r>
            <a:br/>
            <a:r>
              <a:t>• Top quintile CAPE historically yields 0.9% 10-yr annualized real return.</a:t>
            </a:r>
            <a:br/>
            <a:r>
              <a:t>• Dividend payout fell from 65% (1988) to 35% (2024).</a:t>
            </a:r>
            <a:br/>
            <a:r>
              <a:t>• P-CAPE adjusts for retained earnings, explaining 35% variance (vs 24% standard CAPE).</a:t>
            </a:r>
            <a:br/>
            <a:r>
              <a:t>• Earnings yield compressed to ~3.5%, exhausting multiple expansion runway.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280160"/>
            <a:ext cx="347472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463040"/>
            <a:ext cx="3108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D60A"/>
                </a:solidFill>
                <a:latin typeface="Inter"/>
              </a:defRPr>
            </a:pPr>
            <a:r>
              <a:t>Buffett Indicator</a:t>
            </a:r>
          </a:p>
          <a:p>
            <a:pPr>
              <a:defRPr sz="1100">
                <a:solidFill>
                  <a:srgbClr val="F2F2F7"/>
                </a:solidFill>
                <a:latin typeface="Inter"/>
              </a:defRPr>
            </a:pPr>
            <a:r>
              <a:t>• Ratio = 218.1% (Wilshire 5000 / Nominal GDP).</a:t>
            </a:r>
            <a:br/>
            <a:r>
              <a:t>• 56.6% above long-term historical trendline.</a:t>
            </a:r>
            <a:br/>
            <a:r>
              <a:t>• Globalized corporate revenue argument fails to justify sheer magnitude of current deviation.</a:t>
            </a:r>
            <a:br/>
            <a:r>
              <a:t>• Multi-decade future cash flows pulled into current pricing.</a:t>
            </a:r>
            <a:br/>
            <a:r>
              <a:t>• Macro decoupling from domestic output 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80160"/>
            <a:ext cx="356616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463040"/>
            <a:ext cx="3200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453A"/>
                </a:solidFill>
                <a:latin typeface="Inter"/>
              </a:defRPr>
            </a:pPr>
            <a:r>
              <a:t>Real Estate Affordability</a:t>
            </a:r>
          </a:p>
          <a:p>
            <a:pPr>
              <a:defRPr sz="1100">
                <a:solidFill>
                  <a:srgbClr val="F2F2F7"/>
                </a:solidFill>
                <a:latin typeface="Inter"/>
              </a:defRPr>
            </a:pPr>
            <a:r>
              <a:t>• Price-to-Income = 7.11x (vs 1990s baseline 3.2x, 2006 peak 7.0x).</a:t>
            </a:r>
            <a:br/>
            <a:r>
              <a:t>• Demographic gap: Under-40 real home values +30% (2019-2024), real income +9%.</a:t>
            </a:r>
            <a:br/>
            <a:r>
              <a:t>• NAR Report: $86k income required for starter home vs $75k median household income.</a:t>
            </a:r>
            <a:br/>
            <a:r>
              <a:t>• Price-to-Rent disequilibrium: Ownership $3,700-$4,300/mo vs Rent $1,450/mo.</a:t>
            </a:r>
            <a:br/>
            <a:r>
              <a:t>• High Price-to-Rent negatively predicts future price growth.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09CFF"/>
                </a:solidFill>
                <a:latin typeface="Inter"/>
              </a:defRPr>
            </a:pPr>
            <a:r>
              <a:t>SECTION 1: KEY FINDINGS   |   AUDIENCE: EXPERT AUDIENCE   |   CONFIDENCE SCORE: 0.94</a:t>
            </a:r>
          </a:p>
          <a:p>
            <a:pPr>
              <a:defRPr sz="2200" b="1">
                <a:solidFill>
                  <a:srgbClr val="F2F2F7"/>
                </a:solidFill>
                <a:latin typeface="Inter"/>
              </a:defRPr>
            </a:pPr>
            <a:r>
              <a:t>Systemic Leverage &amp; Market Microstructure Fragility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66928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453A"/>
                </a:solidFill>
                <a:latin typeface="Inter"/>
              </a:defRPr>
            </a:pPr>
            <a:r>
              <a:t>FINRA Margin Debt &amp; Credit Exhaustion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• Record Nominal Peak: $1.416 Trillion in May 2026 (+53.7% YoY, +8.53% MoM).</a:t>
            </a:r>
            <a:br/>
            <a:r>
              <a:t>• Real Debt Expansion: +47.4% inflation-adjusted growth over 12 months.</a:t>
            </a:r>
            <a:br/>
            <a:r>
              <a:t>• Velocity Mismatch: Since 1997 baseline, real margin debt grew 550% vs 358% equity market real growth.</a:t>
            </a:r>
            <a:br/>
            <a:r>
              <a:t>• Margin Credit Mechanics: Unused borrowing capacity is exhausted. 1 std dev drop in credit predicts -1.1% lower monthly return (Annual out-of-sample R^2 = 35.68%).</a:t>
            </a:r>
            <a:br/>
            <a:r>
              <a:t>• Pingcang Line Dynamics: Account leverage near maintenance limits triggers forced broker liquidations, driving non-linear positive feedback crashes (1929 &amp; 2015 precedent).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80160"/>
            <a:ext cx="521208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n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50292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09CFF"/>
                </a:solidFill>
                <a:latin typeface="Inter"/>
              </a:defRPr>
            </a:pPr>
            <a:r>
              <a:t>SECTION 1: KEY FINDINGS   |   AUDIENCE: DEVELOPER AUDIENCE   |   CONFIDENCE SCORE: 0.94</a:t>
            </a:r>
          </a:p>
          <a:p>
            <a:pPr>
              <a:defRPr sz="2200" b="1">
                <a:solidFill>
                  <a:srgbClr val="F2F2F7"/>
                </a:solidFill>
                <a:latin typeface="Inter"/>
              </a:defRPr>
            </a:pPr>
            <a:r>
              <a:t>System Architecture &amp; Logging Engine (`config.py` &amp; `ingestor.py`)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39496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09CFF"/>
                </a:solidFill>
                <a:latin typeface="Inter"/>
              </a:defRPr>
            </a:pPr>
            <a:r>
              <a:t>Core Setup &amp; Data Engineering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1. Logging &amp; Domain Exception Hierarchy (`config.py`)</a:t>
            </a:r>
            <a:br/>
            <a:r>
              <a:t>• RotatingFileHandler logging strictly to `bubble_detector.log`.</a:t>
            </a:r>
            <a:br/>
            <a:r>
              <a:t>• Custom Exception Classes: DataFetchError, IndicatorComputationError, ModelTrainingError, ValidationError.</a:t>
            </a:r>
            <a:br/>
            <a:r>
              <a:t>• Standard 2026 Macro Baseline Constants.</a:t>
            </a:r>
            <a:br/>
            <a:br/>
            <a:r>
              <a:t>2. Efficient Data Ingestion (`ingestor.py`)</a:t>
            </a:r>
            <a:br/>
            <a:r>
              <a:t>• DataIngestor fetches historical price data via yfinance with fallback synthetic time series.</a:t>
            </a:r>
            <a:br/>
            <a:r>
              <a:t>• Polars Schema Downcasting: Forces float32 / int32 memory reduction.</a:t>
            </a:r>
            <a:br/>
            <a:r>
              <a:t>• Missing Value Imputation: Forward fill (fill_null(strategy='forward')) for price series; cubic spline interpolation for low-frequency macro data (GDP, Margin Debt).</a:t>
            </a:r>
            <a:br/>
            <a:r>
              <a:t>• Parquet Caching: Local .parquet storage for sub-millisecond I/O.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5120640"/>
          </a:xfrm>
          <a:prstGeom prst="roundRect">
            <a:avLst/>
          </a:prstGeom>
          <a:solidFill>
            <a:srgbClr val="15161A"/>
          </a:solidFill>
          <a:ln w="12700">
            <a:solidFill>
              <a:srgbClr val="40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2D74B"/>
                </a:solidFill>
                <a:latin typeface="Inter"/>
              </a:defRPr>
            </a:pPr>
            <a:r>
              <a:t>Python Programmatic Implementation</a:t>
            </a:r>
          </a:p>
          <a:p>
            <a:pPr>
              <a:defRPr sz="1100">
                <a:solidFill>
                  <a:srgbClr val="F2F2F7"/>
                </a:solidFill>
                <a:latin typeface="Courier New"/>
              </a:defRPr>
            </a:pPr>
            <a:r>
              <a:t>```python</a:t>
            </a:r>
            <a:br/>
            <a:r>
              <a:t># Polars Downcasting &amp; Parquet Storage</a:t>
            </a:r>
            <a:br/>
            <a:r>
              <a:t>import polars as pl</a:t>
            </a:r>
            <a:br/>
            <a:br/>
            <a:r>
              <a:t>class DataIngestor:</a:t>
            </a:r>
            <a:br/>
            <a:r>
              <a:t>    def optimize_schema(self, df: pl.DataFrame) -&gt; pl.DataFrame:</a:t>
            </a:r>
            <a:br/>
            <a:r>
              <a:t>        return df.with_columns([</a:t>
            </a:r>
            <a:br/>
            <a:r>
              <a:t>            pl.col(pl.FLOAT_DTYPES).cast(pl.Float32),</a:t>
            </a:r>
            <a:br/>
            <a:r>
              <a:t>            pl.col(pl.INTEGER_DTYPES).cast(pl.Int32)</a:t>
            </a:r>
            <a:br/>
            <a:r>
              <a:t>        ])</a:t>
            </a:r>
            <a:br/>
            <a:br/>
            <a:r>
              <a:t>    def impute_macro(self, df: pl.DataFrame) -&gt; pl.DataFrame:</a:t>
            </a:r>
            <a:br/>
            <a:r>
              <a:t>        return df.with_columns(</a:t>
            </a:r>
            <a:br/>
            <a:r>
              <a:t>            pl.col('margin_debt').interpolate(method='cubic')</a:t>
            </a:r>
            <a:br/>
            <a:r>
              <a:t>        )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09CFF"/>
                </a:solidFill>
                <a:latin typeface="Inter"/>
              </a:defRPr>
            </a:pPr>
            <a:r>
              <a:t>SECTION 2: SUPPORTING EVIDENCE   |   AUDIENCE: C-LEVEL / MBA AUDIENCE   |   CONFIDENCE SCORE: 0.93</a:t>
            </a:r>
          </a:p>
          <a:p>
            <a:pPr>
              <a:defRPr sz="2200" b="1">
                <a:solidFill>
                  <a:srgbClr val="F2F2F7"/>
                </a:solidFill>
                <a:latin typeface="Inter"/>
              </a:defRPr>
            </a:pPr>
            <a:r>
              <a:t>Supporting Evidence: Valuation, Econometrics &amp; Machine Learning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347472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108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09CFF"/>
                </a:solidFill>
                <a:latin typeface="Inter"/>
              </a:defRPr>
            </a:pPr>
            <a:r>
              <a:t>P-CAPE Dividend Correction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• Corporate shift from dividends to share buybacks distorted classic Shiller CAPE.</a:t>
            </a:r>
            <a:br/>
            <a:r>
              <a:t>• Payout-Adjusted CAPE (P-CAPE) brings forward retained earnings.</a:t>
            </a:r>
            <a:br/>
            <a:r>
              <a:t>• P-CAPE explains 35% of 10-year return variance (vs 24% standard CAPE).</a:t>
            </a:r>
            <a:br/>
            <a:r>
              <a:t>• Confirms valuation remains severely stretched even under growth-adjusted lens.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280160"/>
            <a:ext cx="347472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463040"/>
            <a:ext cx="3108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2D74B"/>
                </a:solidFill>
                <a:latin typeface="Inter"/>
              </a:defRPr>
            </a:pPr>
            <a:r>
              <a:t>GPT AI Econometric Filter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• Standard GSADF / PSY unit-root test suffers size distortion during $754B AI CapEx boom.</a:t>
            </a:r>
            <a:br/>
            <a:r>
              <a:t>• Technology shocks create non-centrality parameters that look like explosive bubbles.</a:t>
            </a:r>
            <a:br/>
            <a:r>
              <a:t>• Two-step fundamental decomposition filters out rational AI repricing, pinpointing speculative excess elsewhere.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80160"/>
            <a:ext cx="356616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463040"/>
            <a:ext cx="3200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D60A"/>
                </a:solidFill>
                <a:latin typeface="Inter"/>
              </a:defRPr>
            </a:pPr>
            <a:r>
              <a:t>Topological &amp; Wavelet Physics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• Topological Data Analysis (TDA) embeds price series into high-dimensional geometric space.</a:t>
            </a:r>
            <a:br/>
            <a:r>
              <a:t>• Morlet wavelets act as a mathematical microscope detecting structural phase changes.</a:t>
            </a:r>
            <a:br/>
            <a:r>
              <a:t>• LPPLS models identify super-exponential oscillations preceding critical crash singularities.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09CFF"/>
                </a:solidFill>
                <a:latin typeface="Inter"/>
              </a:defRPr>
            </a:pPr>
            <a:r>
              <a:t>SECTION 2: SUPPORTING EVIDENCE   |   AUDIENCE: EXPERT AUDIENCE   |   CONFIDENCE SCORE: 0.93</a:t>
            </a:r>
          </a:p>
          <a:p>
            <a:pPr>
              <a:defRPr sz="2200" b="1">
                <a:solidFill>
                  <a:srgbClr val="F2F2F7"/>
                </a:solidFill>
                <a:latin typeface="Inter"/>
              </a:defRPr>
            </a:pPr>
            <a:r>
              <a:t>P-CAPE Mathematics &amp; Margin Credit Exhaustion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39496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09CFF"/>
                </a:solidFill>
                <a:latin typeface="Inter"/>
              </a:defRPr>
            </a:pPr>
            <a:r>
              <a:t>Payout-Adjusted CAPE (P-CAPE) Model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• Formula Logic: Standard CAPE = P / E_10. P-CAPE adjusts past earnings by bringing forward retained earnings (1 - Payout Ratio) compounding at the Cyclically Adjusted Earnings Yield (CAEY).</a:t>
            </a:r>
            <a:br/>
            <a:r>
              <a:t>• Empirical Proof: Out-of-sample explanatory power R^2 increases from 24% to 35% for prospective 10-year real equity returns.</a:t>
            </a:r>
            <a:br/>
            <a:r>
              <a:t>• Baseline Implication: Real corporate earnings grew at 2.0% p.a. over 125 years. Current equity yield @ 3.5% leaves zero mathematical runway for further multiple expansion.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453A"/>
                </a:solidFill>
                <a:latin typeface="Inter"/>
              </a:defRPr>
            </a:pPr>
            <a:r>
              <a:t>Margin Credit Exhaustion &amp; Fire Sale Feedback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• Margin Credit Definition: Unused borrowing capacity collateralized by paper long gains.</a:t>
            </a:r>
            <a:br/>
            <a:r>
              <a:t>• Predictive Supremacy: Systematically outperforms price-to-book and P/E ratios out-of-sample. A 1 std dev drop in credit predicts -1.1% monthly return (Annual R^2 = 35.68%).</a:t>
            </a:r>
            <a:br/>
            <a:r>
              <a:t>• Pingcang Line Dynamics: Account leverage near maintenance limits forces broker liquidations. Indiscriminate selling depresses asset prices, triggering cascading margin calls (1929 &amp; 2015 crash mechanics).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09CFF"/>
                </a:solidFill>
                <a:latin typeface="Inter"/>
              </a:defRPr>
            </a:pPr>
            <a:r>
              <a:t>SECTION 2: SUPPORTING EVIDENCE   |   AUDIENCE: EXPERT AUDIENCE   |   CONFIDENCE SCORE: 0.93</a:t>
            </a:r>
          </a:p>
          <a:p>
            <a:pPr>
              <a:defRPr sz="2200" b="1">
                <a:solidFill>
                  <a:srgbClr val="F2F2F7"/>
                </a:solidFill>
                <a:latin typeface="Inter"/>
              </a:defRPr>
            </a:pPr>
            <a:r>
              <a:t>GPT-Adjusted Econometric Bubble Detection (GSADF / PSY)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09CFF"/>
                </a:solidFill>
                <a:latin typeface="Inter"/>
              </a:defRPr>
            </a:pPr>
            <a:r>
              <a:t>Phillips, Shi &amp; Yu (PSY 2015) Procedure &amp; General-Purpose Technology Shock Filtering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1. Standard GSADF Test Mechanics:</a:t>
            </a:r>
            <a:br/>
            <a:r>
              <a:t>• Sequentially executes right-tailed forward recursive augmented Dickey-Fuller (ADF) unit root tests with flexible, expanding window widths.</a:t>
            </a:r>
            <a:br/>
            <a:r>
              <a:t>• Null Hypothesis H0: Asset price follows random walk with drift. Alternative H1: Mildly explosive process (Evans rational collapsing bubble).</a:t>
            </a:r>
            <a:br/>
            <a:br/>
            <a:r>
              <a:t>2. The GPT Size Distortion Problem in 2026:</a:t>
            </a:r>
            <a:br/>
            <a:r>
              <a:t>• Hyperscalers' $754B AI CapEx introduces a non-linear, hump-shaped technology adoption shock into the Campbell-Shiller present-value model.</a:t>
            </a:r>
            <a:br/>
            <a:r>
              <a:t>• Fundamental price becomes locally explosive during GPT adoption, contaminating the limit distribution with a non-centrality parameter.</a:t>
            </a:r>
            <a:br/>
            <a:r>
              <a:t>• Result: Unadjusted GSADF mistakenly flags rational AI fundamental repricing as an irrational bubble.</a:t>
            </a:r>
            <a:br/>
            <a:br/>
            <a:r>
              <a:t>3. Fundamental-versus-Speculative Two-Step Decomposition:</a:t>
            </a:r>
            <a:br/>
            <a:r>
              <a:t>• Step 1: Regress asset price P_t on empirical technology proxies: Total Factor Productivity (TFP), IT investment, patent grants.</a:t>
            </a:r>
            <a:br/>
            <a:r>
              <a:t>• Step 2: Run GSADF exclusively on the residual price series (P_t - P_t_fundamental).</a:t>
            </a:r>
            <a:br/>
            <a:r>
              <a:t>• Outcome: Filters out mega-cap AI false positives while exposing true speculative bubbles in non-earning small-cap tech.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09CFF"/>
                </a:solidFill>
                <a:latin typeface="Inter"/>
              </a:defRPr>
            </a:pPr>
            <a:r>
              <a:t>SECTION 2: SUPPORTING EVIDENCE   |   AUDIENCE: EXPERT AUDIENCE   |   CONFIDENCE SCORE: 0.93</a:t>
            </a:r>
          </a:p>
          <a:p>
            <a:pPr>
              <a:defRPr sz="2200" b="1">
                <a:solidFill>
                  <a:srgbClr val="F2F2F7"/>
                </a:solidFill>
                <a:latin typeface="Inter"/>
              </a:defRPr>
            </a:pPr>
            <a:r>
              <a:t>Topological Data Analysis (TDA), Wavelets &amp; LPPLS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39496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D60A"/>
                </a:solidFill>
                <a:latin typeface="Inter"/>
              </a:defRPr>
            </a:pPr>
            <a:r>
              <a:t>TDA Persistence &amp; Morlet Wavelets</a:t>
            </a:r>
          </a:p>
          <a:p>
            <a:pPr>
              <a:defRPr sz="1100">
                <a:solidFill>
                  <a:srgbClr val="F2F2F7"/>
                </a:solidFill>
                <a:latin typeface="Inter"/>
              </a:defRPr>
            </a:pPr>
            <a:r>
              <a:t>• Takens' Delay Coordinate Embedding: Reconstructs 1D return series into high-dimensional geometric point cloud x_t = (x_t, x_{t-tau}, ..., x_{t-(d-1)tau}).</a:t>
            </a:r>
            <a:br/>
            <a:r>
              <a:t>• Persistent Homology: Measures appearance/disappearance of topological features (connected components k=0, loops k=1, voids k=2).</a:t>
            </a:r>
            <a:br/>
            <a:r>
              <a:t>• Morlet Wavelet Scaleogram: Automates sliding window size to adaptive 'Goldilocks' resolution.</a:t>
            </a:r>
            <a:br/>
            <a:r>
              <a:t>• Early Warning Signal: L^p norms of persistence landscapes exhibit abnormal growth spikes prior to 2000 and 2008 crashes.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2D74B"/>
                </a:solidFill>
                <a:latin typeface="Inter"/>
              </a:defRPr>
            </a:pPr>
            <a:r>
              <a:t>LPPLS Singularity &amp; Machine Learning</a:t>
            </a:r>
          </a:p>
          <a:p>
            <a:pPr>
              <a:defRPr sz="1100">
                <a:solidFill>
                  <a:srgbClr val="F2F2F7"/>
                </a:solidFill>
                <a:latin typeface="Inter"/>
              </a:defRPr>
            </a:pPr>
            <a:r>
              <a:t>• Deterministic LPPLS Formula:</a:t>
            </a:r>
            <a:br/>
            <a:r>
              <a:t>  ln(P(t)) = A + B(t_c - t)^m + C(t_c - t)^m cos(w ln(t_c - t) + phi)</a:t>
            </a:r>
            <a:br/>
            <a:r>
              <a:t>• Bounded NLS Optimization: Solved via Trust-Region Reflective algorithm (Constraints: t_c &gt; t, 0.1 &lt; m &lt; 0.9, 6 &lt; w &lt; 13).</a:t>
            </a:r>
            <a:br/>
            <a:r>
              <a:t>• LPPLS captures accelerating log-periodic oscillations driven by noise trader positive feedback.</a:t>
            </a:r>
            <a:br/>
            <a:r>
              <a:t>• Deep Sequence ML (LSTM-RNN &amp; HMM): Predicts structural regime breaks using text sentiment, volatility skewness, and macro variables.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09CFF"/>
                </a:solidFill>
                <a:latin typeface="Inter"/>
              </a:defRPr>
            </a:pPr>
            <a:r>
              <a:t>SECTION 2: SUPPORTING EVIDENCE   |   AUDIENCE: DEVELOPER AUDIENCE   |   CONFIDENCE SCORE: 0.93</a:t>
            </a:r>
          </a:p>
          <a:p>
            <a:pPr>
              <a:defRPr sz="2200" b="1">
                <a:solidFill>
                  <a:srgbClr val="F2F2F7"/>
                </a:solidFill>
                <a:latin typeface="Inter"/>
              </a:defRPr>
            </a:pPr>
            <a:r>
              <a:t>Quantitative Indicator Module Architecture (`features/`)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09CFF"/>
                </a:solidFill>
                <a:latin typeface="Inter"/>
              </a:defRPr>
            </a:pPr>
            <a:r>
              <a:t>Modular Quantitative Feature Extraction Pipeline (`features/`)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• technicals.py: Computes Moving Averages (MA20/50/200), RSI (14-day), Bollinger Bands (20-day, 2 std dev), and 20-day rolling volatility.</a:t>
            </a:r>
            <a:br/>
            <a:br/>
            <a:r>
              <a:t>• macro_valuation.py: Calculates Shiller CAPE (41.37), Payout-Adjusted CAPE (P-CAPE), Buffett Indicator (218.1% GDP), and rolling Z-score metrics.</a:t>
            </a:r>
            <a:br/>
            <a:br/>
            <a:r>
              <a:t>• leverage.py: Computes FINRA Margin Debt YoY growth, debt velocity, and excess debt capacity ('Margin Credit Exhaustion Score').</a:t>
            </a:r>
            <a:br/>
            <a:br/>
            <a:r>
              <a:t>• econometric.py: Implements PSY procedure (GSADF t-statistic) integrated with GPT fundamental decomposition to filter out false positive bubble signals on $754B AI CapEx.</a:t>
            </a:r>
            <a:br/>
            <a:br/>
            <a:r>
              <a:t>• topology.py: Executes Takens' delay coordinate embedding, TDA persistence landscape L2 norm, and Morlet wavelet scaleogram complexity score.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09CFF"/>
                </a:solidFill>
                <a:latin typeface="Inter"/>
              </a:defRPr>
            </a:pPr>
            <a:r>
              <a:t>SECTION 2: SUPPORTING EVIDENCE   |   AUDIENCE: DEVELOPER AUDIENCE   |   CONFIDENCE SCORE: 0.93</a:t>
            </a:r>
          </a:p>
          <a:p>
            <a:pPr>
              <a:defRPr sz="2200" b="1">
                <a:solidFill>
                  <a:srgbClr val="F2F2F7"/>
                </a:solidFill>
                <a:latin typeface="Inter"/>
              </a:defRPr>
            </a:pPr>
            <a:r>
              <a:t>Machine Learning Engine &amp; Options Volatility Module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39496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09CFF"/>
                </a:solidFill>
                <a:latin typeface="Inter"/>
              </a:defRPr>
            </a:pPr>
            <a:r>
              <a:t>ML Predictor (`structural_breaks.py`)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• RobustScaler Preprocessing: Subtracts median and scales by Interquartile Range (IQR), protecting model from extreme outlier volatility spikes.</a:t>
            </a:r>
            <a:br/>
            <a:r>
              <a:t>• Gradient Boosting Classifier: Predicts forward 20-day drawdown risk probabilities.</a:t>
            </a:r>
            <a:br/>
            <a:r>
              <a:t>• Expanding-Window Walk-Forward CV: Implements TimeSeriesSplit cross-validation, guaranteeing strictly zero look-ahead bias.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5120640"/>
          </a:xfrm>
          <a:prstGeom prst="roundRect">
            <a:avLst/>
          </a:prstGeom>
          <a:solidFill>
            <a:srgbClr val="15161A"/>
          </a:solidFill>
          <a:ln w="12700">
            <a:solidFill>
              <a:srgbClr val="32D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2D74B"/>
                </a:solidFill>
                <a:latin typeface="Inter"/>
              </a:defRPr>
            </a:pPr>
            <a:r>
              <a:t>Python Options Vol Module (`options_vol.py`)</a:t>
            </a:r>
          </a:p>
          <a:p>
            <a:pPr>
              <a:defRPr sz="1100">
                <a:solidFill>
                  <a:srgbClr val="F2F2F7"/>
                </a:solidFill>
                <a:latin typeface="Courier New"/>
              </a:defRPr>
            </a:pPr>
            <a:r>
              <a:t>```python</a:t>
            </a:r>
            <a:br/>
            <a:r>
              <a:t># Options &amp; Behavioral Tracking Engine</a:t>
            </a:r>
            <a:br/>
            <a:r>
              <a:t>class OptionsVolatilityEngine:</a:t>
            </a:r>
            <a:br/>
            <a:r>
              <a:t>    def compute_contango_slope(self, vix1d, vix3m):</a:t>
            </a:r>
            <a:br/>
            <a:r>
              <a:t>        return (vix3m - vix1d) / vix3m</a:t>
            </a:r>
            <a:br/>
            <a:br/>
            <a:r>
              <a:t>    def skew_alert_trigger(self, skew_val):</a:t>
            </a:r>
            <a:br/>
            <a:r>
              <a:t>        return skew_val &gt; 145.0  # Tail risk flag</a:t>
            </a:r>
            <a:br/>
            <a:br/>
            <a:r>
              <a:t>    def cross_asset_vol_ratio(self, ovx, vix):</a:t>
            </a:r>
            <a:br/>
            <a:r>
              <a:t>        return ovx / vix        # Baseline &gt; 3.0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09CFF"/>
                </a:solidFill>
                <a:latin typeface="Inter"/>
              </a:defRPr>
            </a:pPr>
            <a:r>
              <a:t>SECTION 3: SECTOR SPECIFIC APPLICATION   |   AUDIENCE: C-LEVEL / MBA AUDIENCE   |   CONFIDENCE SCORE: 0.91</a:t>
            </a:r>
          </a:p>
          <a:p>
            <a:pPr>
              <a:defRPr sz="2200" b="1">
                <a:solidFill>
                  <a:srgbClr val="F2F2F7"/>
                </a:solidFill>
                <a:latin typeface="Inter"/>
              </a:defRPr>
            </a:pPr>
            <a:r>
              <a:t>Sector Application: AI Supercycle vs. Energy Shock Hazard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39496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09CFF"/>
                </a:solidFill>
                <a:latin typeface="Inter"/>
              </a:defRPr>
            </a:pPr>
            <a:r>
              <a:t>Tech Sector Concentration Risk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• Semiconductor Concentration: Semi weight in S&amp;P 500 reached 18% (up from 3% a decade ago).</a:t>
            </a:r>
            <a:br/>
            <a:r>
              <a:t>• Wall Street Earnings Dependency: S&amp;P 500 2026 earnings growth (15%) is driven almost entirely by 86% semiconductor earnings surge.</a:t>
            </a:r>
            <a:br/>
            <a:r>
              <a:t>• AI CapEx Baseline: Hyperscalers committing $754B in 2026 (projected &gt;$900B in 2027).</a:t>
            </a:r>
            <a:br/>
            <a:r>
              <a:t>• Small-Cap AI Froth: Russell 2000 &amp; Microcap up 20-25% without TFP gains, creating extreme valuation vulnerability.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453A"/>
                </a:solidFill>
                <a:latin typeface="Inter"/>
              </a:defRPr>
            </a:pPr>
            <a:r>
              <a:t>Energy Sector Exogenous Threat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• Fundamental Earnings Paradox: Energy forecasted to post strongest Q2 earnings growth (doubling YoY).</a:t>
            </a:r>
            <a:br/>
            <a:r>
              <a:t>• Cross-Asset Volatility Spike: CBOE Crude Oil Volatility Index (OVX) spiked 35% in a single session.</a:t>
            </a:r>
            <a:br/>
            <a:r>
              <a:t>• OVX/VIX Ratio @ 3.5x: Commodities pricing severe geopolitical &amp; inflation risk while equities remain complacent.</a:t>
            </a:r>
            <a:br/>
            <a:r>
              <a:t>• Deleveraging Trigger: Energy inflation spike would force central bank rate hikes, detonating the $1.4T margin debt bubble.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09CFF"/>
                </a:solidFill>
                <a:latin typeface="Inter"/>
              </a:defRPr>
            </a:pPr>
            <a:r>
              <a:t>SECTION 3: SECTOR SPECIFIC APPLICATION   |   AUDIENCE: EXPERT AUDIENCE   |   CONFIDENCE SCORE: 0.91</a:t>
            </a:r>
          </a:p>
          <a:p>
            <a:pPr>
              <a:defRPr sz="2200" b="1">
                <a:solidFill>
                  <a:srgbClr val="F2F2F7"/>
                </a:solidFill>
                <a:latin typeface="Inter"/>
              </a:defRPr>
            </a:pPr>
            <a:r>
              <a:t>Technology Concentration &amp; Small-Cap Speculative Froth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09CFF"/>
                </a:solidFill>
                <a:latin typeface="Inter"/>
              </a:defRPr>
            </a:pPr>
            <a:r>
              <a:t>Semiconductor Dominance &amp; Valuation Discount Rate Sensitivity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1. Index Weight Concentration:</a:t>
            </a:r>
            <a:br/>
            <a:r>
              <a:t>• Semiconductors now command 18% of S&amp;P 500 total market cap.</a:t>
            </a:r>
            <a:br/>
            <a:r>
              <a:t>• Mega-cap semiconductor 3-month implied volatility has surged to 73% (more than double 2016 baseline), signaling massive embedded option risk.</a:t>
            </a:r>
            <a:br/>
            <a:br/>
            <a:r>
              <a:t>2. Structural Disconnect in Secondary Tier Tech:</a:t>
            </a:r>
            <a:br/>
            <a:r>
              <a:t>• Small-cap indices (Russell 2000 &amp; Microcap) surged +20% and +25% in H1 2026.</a:t>
            </a:r>
            <a:br/>
            <a:r>
              <a:t>• The rally is heavily driven by unprofitable companies piggybacking on the AI narrative.</a:t>
            </a:r>
            <a:br/>
            <a:r>
              <a:t>• While hyperscalers' CapEx ($754B) is cointegrated with TFP, secondary tech lacks fundamental cash flow backing.</a:t>
            </a:r>
            <a:br/>
            <a:br/>
            <a:r>
              <a:t>3. Discount Rate Vulnerability:</a:t>
            </a:r>
            <a:br/>
            <a:r>
              <a:t>• Valuations in non-earning AI stocks rely entirely on long-dated terminal value cash flow assumptions.</a:t>
            </a:r>
            <a:br/>
            <a:r>
              <a:t>• Any upward shift in discount rates (driven by rate hikes or inflation) causes violent valuation contraction in secondary tech.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09CFF"/>
                </a:solidFill>
                <a:latin typeface="Inter"/>
              </a:defRPr>
            </a:pPr>
            <a:r>
              <a:t>SECTION 3: SECTOR SPECIFIC APPLICATION   |   AUDIENCE: EXPERT AUDIENCE   |   CONFIDENCE SCORE: 0.91</a:t>
            </a:r>
          </a:p>
          <a:p>
            <a:pPr>
              <a:defRPr sz="2200" b="1">
                <a:solidFill>
                  <a:srgbClr val="F2F2F7"/>
                </a:solidFill>
                <a:latin typeface="Inter"/>
              </a:defRPr>
            </a:pPr>
            <a:r>
              <a:t>Energy Volatility &amp; Cross-Asset Shock Transmission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453A"/>
                </a:solidFill>
                <a:latin typeface="Inter"/>
              </a:defRPr>
            </a:pPr>
            <a:r>
              <a:t>The OVX / VIX Anomaly &amp; Macro Contagion Mechanics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1. Cross-Asset Volatility Divergence:</a:t>
            </a:r>
            <a:br/>
            <a:r>
              <a:t>• CBOE Crude Oil Volatility Index (OVX) single-day spike of +35% elevated the OVX-to-VIX ratio to 3.5x.</a:t>
            </a:r>
            <a:br/>
            <a:r>
              <a:t>• Options markets are pricing acute supply-chain disruption and commodity inflation exclusively into commodities, bypassing broad equity indices.</a:t>
            </a:r>
            <a:br/>
            <a:br/>
            <a:r>
              <a:t>2. Margin Debt Deleveraging Transmission Channel:</a:t>
            </a:r>
            <a:br/>
            <a:r>
              <a:t>• Stage 1: Geopolitical shock triggers sustained energy price surge.</a:t>
            </a:r>
            <a:br/>
            <a:r>
              <a:t>• Stage 2: Energy inflation compresses corporate profit margins across non-tech sectors and elevates CPI.</a:t>
            </a:r>
            <a:br/>
            <a:r>
              <a:t>• Stage 3: Central banks lose monetary easing flexibility, holding interest rates higher for longer.</a:t>
            </a:r>
            <a:br/>
            <a:r>
              <a:t>• Stage 4: High rates increase margin borrowing costs, triggering margin calls at the Pingcang Line and initiating a forced $1.416T deleveraging cascade.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09CFF"/>
                </a:solidFill>
                <a:latin typeface="Inter"/>
              </a:defRPr>
            </a:pPr>
            <a:r>
              <a:t>SECTION 3: SECTOR SPECIFIC APPLICATION   |   AUDIENCE: EXPERT AUDIENCE   |   CONFIDENCE SCORE: 0.91</a:t>
            </a:r>
          </a:p>
          <a:p>
            <a:pPr>
              <a:defRPr sz="2200" b="1">
                <a:solidFill>
                  <a:srgbClr val="F2F2F7"/>
                </a:solidFill>
                <a:latin typeface="Inter"/>
              </a:defRPr>
            </a:pPr>
            <a:r>
              <a:t>Cross-Sector Contagion &amp; Liquidity Transmission Channels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256032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2194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453A"/>
                </a:solidFill>
                <a:latin typeface="Inter"/>
              </a:defRPr>
            </a:pPr>
            <a:r>
              <a:t>STEP 1: SHOCK</a:t>
            </a:r>
          </a:p>
          <a:p>
            <a:pPr>
              <a:defRPr sz="1100">
                <a:solidFill>
                  <a:srgbClr val="F2F2F7"/>
                </a:solidFill>
                <a:latin typeface="Inter"/>
              </a:defRPr>
            </a:pPr>
            <a:r>
              <a:t>Energy / Geopolitical Shock</a:t>
            </a:r>
            <a:br/>
            <a:r>
              <a:t>• OVX spikes +35%</a:t>
            </a:r>
            <a:br/>
            <a:r>
              <a:t>• Oil volatility ratio OVX/VIX hits 3.5x</a:t>
            </a:r>
            <a:br/>
            <a:r>
              <a:t>• Commodity risk bypasses broad equities initially.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280160"/>
            <a:ext cx="256032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463040"/>
            <a:ext cx="2194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D60A"/>
                </a:solidFill>
                <a:latin typeface="Inter"/>
              </a:defRPr>
            </a:pPr>
            <a:r>
              <a:t>STEP 2: MACRO</a:t>
            </a:r>
          </a:p>
          <a:p>
            <a:pPr>
              <a:defRPr sz="1100">
                <a:solidFill>
                  <a:srgbClr val="F2F2F7"/>
                </a:solidFill>
                <a:latin typeface="Inter"/>
              </a:defRPr>
            </a:pPr>
            <a:r>
              <a:t>Inflation &amp; Rate Pressure</a:t>
            </a:r>
            <a:br/>
            <a:r>
              <a:t>• Energy cost pass-through raises CPI.</a:t>
            </a:r>
            <a:br/>
            <a:r>
              <a:t>• Central banks forced into hawkish stance.</a:t>
            </a:r>
            <a:br/>
            <a:r>
              <a:t>• Discount rates rise across all asset classes.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256032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2194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409CFF"/>
                </a:solidFill>
                <a:latin typeface="Inter"/>
              </a:defRPr>
            </a:pPr>
            <a:r>
              <a:t>STEP 3: LEVERAGE</a:t>
            </a:r>
          </a:p>
          <a:p>
            <a:pPr>
              <a:defRPr sz="1100">
                <a:solidFill>
                  <a:srgbClr val="F2F2F7"/>
                </a:solidFill>
                <a:latin typeface="Inter"/>
              </a:defRPr>
            </a:pPr>
            <a:r>
              <a:t>Margin Debt Call Trigger</a:t>
            </a:r>
            <a:br/>
            <a:r>
              <a:t>• Levered accounts hit Pingcang Line.</a:t>
            </a:r>
            <a:br/>
            <a:r>
              <a:t>• $1.416T margin debt faces broker calls.</a:t>
            </a:r>
            <a:br/>
            <a:r>
              <a:t>• Excess Margin Credit is fully exhausted.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280160"/>
            <a:ext cx="256032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1463040"/>
            <a:ext cx="2194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453A"/>
                </a:solidFill>
                <a:latin typeface="Inter"/>
              </a:defRPr>
            </a:pPr>
            <a:r>
              <a:t>STEP 4: CRASH</a:t>
            </a:r>
          </a:p>
          <a:p>
            <a:pPr>
              <a:defRPr sz="1100">
                <a:solidFill>
                  <a:srgbClr val="F2F2F7"/>
                </a:solidFill>
                <a:latin typeface="Inter"/>
              </a:defRPr>
            </a:pPr>
            <a:r>
              <a:t>Indiscriminate Fire Sale</a:t>
            </a:r>
            <a:br/>
            <a:r>
              <a:t>• Broker liquidations hit liquid mega-cap tech.</a:t>
            </a:r>
            <a:br/>
            <a:r>
              <a:t>• Implied correlation spikes from &lt;8 to &gt;80.</a:t>
            </a:r>
            <a:br/>
            <a:r>
              <a:t>• Full systemic market crash.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09CFF"/>
                </a:solidFill>
                <a:latin typeface="Inter"/>
              </a:defRPr>
            </a:pPr>
            <a:r>
              <a:t>SECTION 3: SECTOR SPECIFIC APPLICATION   |   AUDIENCE: DEVELOPER AUDIENCE   |   CONFIDENCE SCORE: 0.91</a:t>
            </a:r>
          </a:p>
          <a:p>
            <a:pPr>
              <a:defRPr sz="2200" b="1">
                <a:solidFill>
                  <a:srgbClr val="F2F2F7"/>
                </a:solidFill>
                <a:latin typeface="Inter"/>
              </a:defRPr>
            </a:pPr>
            <a:r>
              <a:t>Sector Volatility &amp; Dashboard Tab Implementation (`dashboard.py`)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39496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09CFF"/>
                </a:solidFill>
                <a:latin typeface="Inter"/>
              </a:defRPr>
            </a:pPr>
            <a:r>
              <a:t>Sector Dashboard Tab 5 Design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• Interactive Tab: 'Sector-Specific Health Dashboard' in NiceGUI application.</a:t>
            </a:r>
            <a:br/>
            <a:r>
              <a:t>• Semiconductor Trackers: Monitors concentration ratio (18% threshold) and 3-month rolling IV (73% alert).</a:t>
            </a:r>
            <a:br/>
            <a:r>
              <a:t>• Small-Cap TFP Divergence: Real-time monitoring of Russell 2000 GSADF residual vs TFP growth.</a:t>
            </a:r>
            <a:br/>
            <a:r>
              <a:t>• Energy Volatility Monitor: Ingests OVX tick data and computes live OVX/VIX ratio with color-coded alert badges (&gt;3.0 = Amber, &gt;3.5 = Red).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5120640"/>
          </a:xfrm>
          <a:prstGeom prst="roundRect">
            <a:avLst/>
          </a:prstGeom>
          <a:solidFill>
            <a:srgbClr val="15161A"/>
          </a:solidFill>
          <a:ln w="12700">
            <a:solidFill>
              <a:srgbClr val="40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2D74B"/>
                </a:solidFill>
                <a:latin typeface="Inter"/>
              </a:defRPr>
            </a:pPr>
            <a:r>
              <a:t>NiceGUI Component Snippet</a:t>
            </a:r>
          </a:p>
          <a:p>
            <a:pPr>
              <a:defRPr sz="1100">
                <a:solidFill>
                  <a:srgbClr val="F2F2F7"/>
                </a:solidFill>
                <a:latin typeface="Courier New"/>
              </a:defRPr>
            </a:pPr>
            <a:r>
              <a:t>```python</a:t>
            </a:r>
            <a:br/>
            <a:r>
              <a:t># NiceGUI Sector Tab Implementation</a:t>
            </a:r>
            <a:br/>
            <a:r>
              <a:t>from nicegui import ui</a:t>
            </a:r>
            <a:br/>
            <a:br/>
            <a:r>
              <a:t>def render_sector_tab(data):</a:t>
            </a:r>
            <a:br/>
            <a:r>
              <a:t>    with ui.tab_panel('Sector-Specific Health'):</a:t>
            </a:r>
            <a:br/>
            <a:r>
              <a:t>        ui.label('Sector Concentration &amp; Cross-Asset Vol')</a:t>
            </a:r>
            <a:br/>
            <a:r>
              <a:t>        ovx_vix = data['ovx'] / data['vix']</a:t>
            </a:r>
            <a:br/>
            <a:r>
              <a:t>        if ovx_vix &gt; 3.5:</a:t>
            </a:r>
            <a:br/>
            <a:r>
              <a:t>            ui.badge('CRUDE OIL VOLATILITY ALERT',</a:t>
            </a:r>
            <a:br/>
            <a:r>
              <a:t>                     color='red')</a:t>
            </a:r>
            <a:br/>
            <a:r>
              <a:t>        # Render Plotly sector dispersion chart</a:t>
            </a:r>
            <a:br/>
            <a:r>
              <a:t>        ui.plotly(fig_sector_health)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09CFF"/>
                </a:solidFill>
                <a:latin typeface="Inter"/>
              </a:defRPr>
            </a:pPr>
            <a:r>
              <a:t>SECTION 4: IMPLICATIONS FOR SYSTEMIC STABILITY   |   AUDIENCE: C-LEVEL / MBA AUDIENCE   |   CONFIDENCE SCORE: 0.95</a:t>
            </a:r>
          </a:p>
          <a:p>
            <a:pPr>
              <a:defRPr sz="2200" b="1">
                <a:solidFill>
                  <a:srgbClr val="F2F2F7"/>
                </a:solidFill>
                <a:latin typeface="Inter"/>
              </a:defRPr>
            </a:pPr>
            <a:r>
              <a:t>Implications for Systemic Stability: Fragility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347472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108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09CFF"/>
                </a:solidFill>
                <a:latin typeface="Inter"/>
              </a:defRPr>
            </a:pPr>
            <a:r>
              <a:t>The Concentration Trap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• Narrowing Market Breadth: S&amp;P 500 index gains concentrated in a shrinking handful of mega-caps.</a:t>
            </a:r>
            <a:br/>
            <a:r>
              <a:t>• Illusion of Stability: Index volatility (VIX 15-17) appears calm while underlying stock dispersion (DSPX &gt; 46) is at multi-year highs.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280160"/>
            <a:ext cx="347472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463040"/>
            <a:ext cx="3108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453A"/>
                </a:solidFill>
                <a:latin typeface="Inter"/>
              </a:defRPr>
            </a:pPr>
            <a:r>
              <a:t>Liquidity Illusion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• Record Margin Debt ($1.416T) has exhausted aggregate unused borrowing capacity.</a:t>
            </a:r>
            <a:br/>
            <a:r>
              <a:t>• Market lacks a marginal buyer buffer.</a:t>
            </a:r>
            <a:br/>
            <a:r>
              <a:t>• Any forced selling will encounter a liquidity void, causing rapid price gapping.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80160"/>
            <a:ext cx="356616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463040"/>
            <a:ext cx="3200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D60A"/>
                </a:solidFill>
                <a:latin typeface="Inter"/>
              </a:defRPr>
            </a:pPr>
            <a:r>
              <a:t>Institutional Fear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• Smart Money Positioning: CBOE SKEW &gt; 145 reveals aggressive institutional buying of OTM puts.</a:t>
            </a:r>
            <a:br/>
            <a:r>
              <a:t>• Implied Correlation Collapse (COR3M &lt; 8.0): Historically precedes sharp volatility regime shifts.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09CFF"/>
                </a:solidFill>
                <a:latin typeface="Inter"/>
              </a:defRPr>
            </a:pPr>
            <a:r>
              <a:t>SECTION 4: IMPLICATIONS FOR SYSTEMIC STABILITY   |   AUDIENCE: EXPERT AUDIENCE   |   CONFIDENCE SCORE: 0.95</a:t>
            </a:r>
          </a:p>
          <a:p>
            <a:pPr>
              <a:defRPr sz="2200" b="1">
                <a:solidFill>
                  <a:srgbClr val="F2F2F7"/>
                </a:solidFill>
                <a:latin typeface="Inter"/>
              </a:defRPr>
            </a:pPr>
            <a:r>
              <a:t>Mechanics of Market Liquidity Exhaustion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453A"/>
                </a:solidFill>
                <a:latin typeface="Inter"/>
              </a:defRPr>
            </a:pPr>
            <a:r>
              <a:t>Margin Credit Depletion &amp; Pingcang Maintenance Collateral Limits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1. Margin Credit Capacity Limits:</a:t>
            </a:r>
            <a:br/>
            <a:r>
              <a:t>• Margin Credit = Total Allowable Borrowing Power minus Active Margin Debt.</a:t>
            </a:r>
            <a:br/>
            <a:r>
              <a:t>• In May 2026, active debt ($1.416T) has reached maximum regulatory and brokerage limits, reducing unused credit to historical zero.</a:t>
            </a:r>
            <a:br/>
            <a:r>
              <a:t>• Result: Levered market participants can no longer step in to buy routine pullbacks.</a:t>
            </a:r>
            <a:br/>
            <a:br/>
            <a:r>
              <a:t>2. Non-Linear Fire Sale Collateral Dynamics:</a:t>
            </a:r>
            <a:br/>
            <a:r>
              <a:t>• When account equity hits broker maintenance thresholds (Pingcang Line), automated risk management systems issue immediate margin calls.</a:t>
            </a:r>
            <a:br/>
            <a:r>
              <a:t>• Investors are forced to sell holdings indiscriminately into a thin bid stack.</a:t>
            </a:r>
            <a:br/>
            <a:r>
              <a:t>• Liquidations depress asset prices further, triggering a self-reinforcing liquidation loop (1929 &amp; 2015 shadow-financed crash mechanics).</a:t>
            </a:r>
            <a:br/>
            <a:br/>
            <a:r>
              <a:t>3. Structural Vulnerability Matrix:</a:t>
            </a:r>
            <a:br/>
            <a:r>
              <a:t>• High Valuation (CAPE 41.37) + High Leverage ($1.416T) + Zero Margin Credit = Maximum Systemic Fragility.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09CFF"/>
                </a:solidFill>
                <a:latin typeface="Inter"/>
              </a:defRPr>
            </a:pPr>
            <a:r>
              <a:t>SECTION 4: IMPLICATIONS FOR SYSTEMIC STABILITY   |   AUDIENCE: EXPERT AUDIENCE   |   CONFIDENCE SCORE: 0.95</a:t>
            </a:r>
          </a:p>
          <a:p>
            <a:pPr>
              <a:defRPr sz="2200" b="1">
                <a:solidFill>
                  <a:srgbClr val="F2F2F7"/>
                </a:solidFill>
                <a:latin typeface="Inter"/>
              </a:defRPr>
            </a:pPr>
            <a:r>
              <a:t>Options Tail-Risk Pricing &amp; Implied Correlation Collapse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66928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60A"/>
                </a:solidFill>
                <a:latin typeface="Inter"/>
              </a:defRPr>
            </a:pPr>
            <a:r>
              <a:t>SKEW &amp; Dispersion Indicators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• CBOE SKEW Index &gt; 145 (Peak 154): Reflects extreme pricing of left-tail crash protection relative to ATM options.</a:t>
            </a:r>
            <a:br/>
            <a:r>
              <a:t>• Normal Bull Range: 100-120. Elevated SKEW while VIX spot remains low (15-17) proves institutional money is aggressively hedging.</a:t>
            </a:r>
            <a:br/>
            <a:r>
              <a:t>• CBOE Dispersion Index (DSPX) &gt; 46 vs Implied Correlation (COR3M) &lt; 8.0: Multi-year record divergence.</a:t>
            </a:r>
            <a:br/>
            <a:r>
              <a:t>• Structural Interpretation: Individual stocks are moving independently while index is pinned—a classic late-stage terminal bull characteristic preceding violent correlation spikes.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80160"/>
            <a:ext cx="521208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pliedvolatilitymet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50292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09CFF"/>
                </a:solidFill>
                <a:latin typeface="Inter"/>
              </a:defRPr>
            </a:pPr>
            <a:r>
              <a:t>SECTION 4: IMPLICATIONS FOR SYSTEMIC STABILITY   |   AUDIENCE: EXPERT AUDIENCE   |   CONFIDENCE SCORE: 0.95</a:t>
            </a:r>
          </a:p>
          <a:p>
            <a:pPr>
              <a:defRPr sz="2200" b="1">
                <a:solidFill>
                  <a:srgbClr val="F2F2F7"/>
                </a:solidFill>
                <a:latin typeface="Inter"/>
              </a:defRPr>
            </a:pPr>
            <a:r>
              <a:t>Non-Linear Chaos &amp; Phase Transition Forecasting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09CFF"/>
                </a:solidFill>
                <a:latin typeface="Inter"/>
              </a:defRPr>
            </a:pPr>
            <a:r>
              <a:t>Phase Space Attractors &amp; LPPLS Critical Singularity Date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1. Topological Phase Shift Detection:</a:t>
            </a:r>
            <a:br/>
            <a:r>
              <a:t>• Dynamic tracking of TDA persistence landscape L^2 norms reveals a structural shift from a normal gaussian return distribution to a chaotic attractor regime.</a:t>
            </a:r>
            <a:br/>
            <a:r>
              <a:t>• Scaleogram complexity scores from Morlet wavelets show high-frequency volatility clustering across multiple time horizons.</a:t>
            </a:r>
            <a:br/>
            <a:br/>
            <a:r>
              <a:t>2. LPPLS Critical Singularity Estimation:</a:t>
            </a:r>
            <a:br/>
            <a:r>
              <a:t>• Super-exponential power-law fits (ln(P(t)) = A + B(t_c - t)^m + ...) predict critical point t_c where market instability reaches maximum.</a:t>
            </a:r>
            <a:br/>
            <a:r>
              <a:t>• Accelerating log-periodic price oscillations confirm self-reinforcing noise trader imitation.</a:t>
            </a:r>
            <a:br/>
            <a:br/>
            <a:r>
              <a:t>3. Operational Risk Regime State Machine:</a:t>
            </a:r>
            <a:br/>
            <a:r>
              <a:t>• Regime 0: Low Vol Contango (Complacency) -&gt; Regime 1: Dispersion &amp; SKEW Spike (Institutional Hedging) -&gt; Regime 2: Energy/Rate Exogenous Trigger -&gt; Regime 3: Margin Call Liquidation (Systemic Crash).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09CFF"/>
                </a:solidFill>
                <a:latin typeface="Inter"/>
              </a:defRPr>
            </a:pPr>
            <a:r>
              <a:t>SECTION 4: IMPLICATIONS FOR SYSTEMIC STABILITY   |   AUDIENCE: DEVELOPER AUDIENCE   |   CONFIDENCE SCORE: 0.95</a:t>
            </a:r>
          </a:p>
          <a:p>
            <a:pPr>
              <a:defRPr sz="2200" b="1">
                <a:solidFill>
                  <a:srgbClr val="F2F2F7"/>
                </a:solidFill>
                <a:latin typeface="Inter"/>
              </a:defRPr>
            </a:pPr>
            <a:r>
              <a:t>Systemic Risk Dashboard Application Architecture (`dashboard.py`)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09CFF"/>
                </a:solidFill>
                <a:latin typeface="Inter"/>
              </a:defRPr>
            </a:pPr>
            <a:r>
              <a:t>5-Tab Interactive Plotly &amp; NiceGUI Integration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• Header Bar &amp; CTA Banner: High-impact typography (600-800 weight) with real-time systemic risk status badge.</a:t>
            </a:r>
            <a:br/>
            <a:r>
              <a:t>• Tab 1: Macro Valuation Dashboard — Interactive Plotly time series of Shiller CAPE, P-CAPE, and Buffett Indicator with historical crash overlays.</a:t>
            </a:r>
            <a:br/>
            <a:r>
              <a:t>• Tab 2: Liquidity &amp; Leverage Dashboard — FINRA Margin Debt YoY growth, velocity, and live Margin Credit Exhaustion Score gauge.</a:t>
            </a:r>
            <a:br/>
            <a:r>
              <a:t>• Tab 3: Econometric Bubble Dashboard — GSADF t-statistic charts with GPT fundamental decomposition toggle.</a:t>
            </a:r>
            <a:br/>
            <a:r>
              <a:t>• Tab 4: Sentiment &amp; Volatility Dashboard — VIX contango term structure, SKEW index alert (&gt;145), and DSPX vs COR3M correlation dispersion tracker.</a:t>
            </a:r>
            <a:br/>
            <a:r>
              <a:t>• Tab 5: Sector-Specific Health Dashboard — Semiconductor concentration risk and energy volatility ratios.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09CFF"/>
                </a:solidFill>
                <a:latin typeface="Inter"/>
              </a:defRPr>
            </a:pPr>
            <a:r>
              <a:t>SECTION 5: STRATEGIC RECOMMENDATIONS   |   AUDIENCE: C-LEVEL / MBA AUDIENCE   |   CONFIDENCE SCORE: 0.96</a:t>
            </a:r>
          </a:p>
          <a:p>
            <a:pPr>
              <a:defRPr sz="2200" b="1">
                <a:solidFill>
                  <a:srgbClr val="F2F2F7"/>
                </a:solidFill>
                <a:latin typeface="Inter"/>
              </a:defRPr>
            </a:pPr>
            <a:r>
              <a:t>Strategic Recommendations: C-Suite Institutional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394960" cy="246888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409CFF"/>
                </a:solidFill>
                <a:latin typeface="Inter"/>
              </a:defRPr>
            </a:pPr>
            <a:r>
              <a:t>1. TDA Wavelet Regime Monitoring</a:t>
            </a:r>
          </a:p>
          <a:p>
            <a:pPr>
              <a:defRPr sz="1100">
                <a:solidFill>
                  <a:srgbClr val="F2F2F7"/>
                </a:solidFill>
                <a:latin typeface="Inter"/>
              </a:defRPr>
            </a:pPr>
            <a:r>
              <a:t>Deploy Topological Data Analysis with Morlet wavelets to monitor L^p persistence landscape norms. Systematically reduce equity beta prior to crash onset.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246888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453A"/>
                </a:solidFill>
                <a:latin typeface="Inter"/>
              </a:defRPr>
            </a:pPr>
            <a:r>
              <a:t>2. Track FINRA Margin Credit Limit</a:t>
            </a:r>
          </a:p>
          <a:p>
            <a:pPr>
              <a:defRPr sz="1100">
                <a:solidFill>
                  <a:srgbClr val="F2F2F7"/>
                </a:solidFill>
                <a:latin typeface="Inter"/>
              </a:defRPr>
            </a:pPr>
            <a:r>
              <a:t>Treat unused margin credit as a hard liquidity constraint. As capacity exhausts, aggressively adjust downside volatility targets upward to prepare for Pingcang line fire sales.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931920"/>
            <a:ext cx="5394960" cy="246888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2D74B"/>
                </a:solidFill>
                <a:latin typeface="Inter"/>
              </a:defRPr>
            </a:pPr>
            <a:r>
              <a:t>3. GPT-Adjusted Tech Allocation</a:t>
            </a:r>
          </a:p>
          <a:p>
            <a:pPr>
              <a:defRPr sz="1100">
                <a:solidFill>
                  <a:srgbClr val="F2F2F7"/>
                </a:solidFill>
                <a:latin typeface="Inter"/>
              </a:defRPr>
            </a:pPr>
            <a:r>
              <a:t>Use GPT fundamental decomposition. Allocate strictly to mega-cap tech backed by CapEx &amp; TFP gains; divest from unprofitable small-cap AI speculative froth.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394960" cy="246888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02336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D60A"/>
                </a:solidFill>
                <a:latin typeface="Inter"/>
              </a:defRPr>
            </a:pPr>
            <a:r>
              <a:t>4. Asymmetric Options &amp; Cross-Asset Hedges</a:t>
            </a:r>
          </a:p>
          <a:p>
            <a:pPr>
              <a:defRPr sz="1100">
                <a:solidFill>
                  <a:srgbClr val="F2F2F7"/>
                </a:solidFill>
                <a:latin typeface="Inter"/>
              </a:defRPr>
            </a:pPr>
            <a:r>
              <a:t>Exploit VIX contango via short-term long-gamma positions. Bypass expensive SKEW put options by constructing tail risk hedges using crude oil (OVX) and Treasury (MOVE) volatility.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09CFF"/>
                </a:solidFill>
                <a:latin typeface="Inter"/>
              </a:defRPr>
            </a:pPr>
            <a:r>
              <a:t>SECTION 5: STRATEGIC RECOMMENDATIONS   |   AUDIENCE: EXPERT AUDIENCE   |   CONFIDENCE SCORE: 0.96</a:t>
            </a:r>
          </a:p>
          <a:p>
            <a:pPr>
              <a:defRPr sz="2200" b="1">
                <a:solidFill>
                  <a:srgbClr val="F2F2F7"/>
                </a:solidFill>
                <a:latin typeface="Inter"/>
              </a:defRPr>
            </a:pPr>
            <a:r>
              <a:t>Institutional Quantitative Risk Protocols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09CFF"/>
                </a:solidFill>
                <a:latin typeface="Inter"/>
              </a:defRPr>
            </a:pPr>
            <a:r>
              <a:t>Algorithmic Trigger Rules &amp; Margin Credit Hard Thresholds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1. TDA Persistence Landscape Norm Trigger:</a:t>
            </a:r>
            <a:br/>
            <a:r>
              <a:t>• Operational Rule: Monitor the L^2 norm of the persistent homology landscape daily.</a:t>
            </a:r>
            <a:br/>
            <a:r>
              <a:t>• Action Threshold: When L^2 norm breaches +2.5 standard deviations above its 90-day moving median, automatically reduce portfolio equity beta by 30% to 50% within 24 hours.</a:t>
            </a:r>
            <a:br/>
            <a:br/>
            <a:r>
              <a:t>2. FINRA Margin Credit Exhaustion Rule:</a:t>
            </a:r>
            <a:br/>
            <a:r>
              <a:t>• Operational Rule: Compute aggregate margin credit velocity (Margin Credit YoY%).</a:t>
            </a:r>
            <a:br/>
            <a:r>
              <a:t>• Action Threshold: When Margin Credit YoY drops below -15% while nominal debt is at historical zenith, mandate dynamic VaR scaling and double cash reserves.</a:t>
            </a:r>
            <a:br/>
            <a:br/>
            <a:r>
              <a:t>3. Structural Break Walk-Forward Integration:</a:t>
            </a:r>
            <a:br/>
            <a:r>
              <a:t>• Integrate `structural_breaks.py` Gradient Boosting predictions with expanding-window walk-forward CV to update portfolio drawdown probability limits dynamically.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09CFF"/>
                </a:solidFill>
                <a:latin typeface="Inter"/>
              </a:defRPr>
            </a:pPr>
            <a:r>
              <a:t>SECTION 5: STRATEGIC RECOMMENDATIONS   |   AUDIENCE: EXPERT AUDIENCE   |   CONFIDENCE SCORE: 0.96</a:t>
            </a:r>
          </a:p>
          <a:p>
            <a:pPr>
              <a:defRPr sz="2200" b="1">
                <a:solidFill>
                  <a:srgbClr val="F2F2F7"/>
                </a:solidFill>
                <a:latin typeface="Inter"/>
              </a:defRPr>
            </a:pPr>
            <a:r>
              <a:t>GPT-Adjusted Cointegration Asset Allocation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2D74B"/>
                </a:solidFill>
                <a:latin typeface="Inter"/>
              </a:defRPr>
            </a:pPr>
            <a:r>
              <a:t>Fundamental-versus-Speculative Long/Short Portfolio Construction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1. Fundamental Cointegration Decomposition:</a:t>
            </a:r>
            <a:br/>
            <a:r>
              <a:t>• Decompose asset price: P_t = P_t_fundamental + P_t_speculative.</a:t>
            </a:r>
            <a:br/>
            <a:r>
              <a:t>• Long Leg: Allocate exclusively to mega-cap technology firms whose price trajectory cointegrates with empirical AI CapEx ($754B) and observable TFP growth.</a:t>
            </a:r>
            <a:br/>
            <a:r>
              <a:t>• Short Leg: Short secondary small-cap tech (Russell 2000 AI story stocks) that exhibit explosive unadjusted GSADF unit-root stats without corresponding TFP gains.</a:t>
            </a:r>
            <a:br/>
            <a:br/>
            <a:r>
              <a:t>2. Multiple Re-anchoring via P-CAPE:</a:t>
            </a:r>
            <a:br/>
            <a:r>
              <a:t>• Replace static forward P/E multiples with Payout-Adjusted CAPE (P-CAPE) to accurately evaluate retained earnings compounding in mega-cap technology balance sheets.</a:t>
            </a:r>
            <a:br/>
            <a:br/>
            <a:r>
              <a:t>3. Asymmetric Return Profile:</a:t>
            </a:r>
            <a:br/>
            <a:r>
              <a:t>• Protects upside participation in legitimate technological supercycle while insulating portfolio from speculative bubble collapse.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09CFF"/>
                </a:solidFill>
                <a:latin typeface="Inter"/>
              </a:defRPr>
            </a:pPr>
            <a:r>
              <a:t>SECTION 5: STRATEGIC RECOMMENDATIONS   |   AUDIENCE: EXPERT AUDIENCE   |   CONFIDENCE SCORE: 0.96</a:t>
            </a:r>
          </a:p>
          <a:p>
            <a:pPr>
              <a:defRPr sz="2200" b="1">
                <a:solidFill>
                  <a:srgbClr val="F2F2F7"/>
                </a:solidFill>
                <a:latin typeface="Inter"/>
              </a:defRPr>
            </a:pPr>
            <a:r>
              <a:t>Asymmetric Options &amp; Cross-Asset Volatility Hedges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D60A"/>
                </a:solidFill>
                <a:latin typeface="Inter"/>
              </a:defRPr>
            </a:pPr>
            <a:r>
              <a:t>Cross-Asset Volatility Proxy Hedging Matrix</a:t>
            </a:r>
          </a:p>
          <a:p>
            <a:pPr>
              <a:defRPr sz="1200">
                <a:solidFill>
                  <a:srgbClr val="F2F2F7"/>
                </a:solidFill>
                <a:latin typeface="Inter"/>
              </a:defRPr>
            </a:pPr>
            <a:r>
              <a:t>1. Exploiting Volatility Term Structure Contango:</a:t>
            </a:r>
            <a:br/>
            <a:r>
              <a:t>• Front-month VIX1D (&lt;10) vs VIX3M/1Y (19-23) contango allows ultra-cheap short-term long gamma positioning via 1-week straddles/strangles to capture sudden dispersion events.</a:t>
            </a:r>
            <a:br/>
            <a:br/>
            <a:r>
              <a:t>2. Cross-Asset Volatility Hedges (Bypassing Overpriced SKEW):</a:t>
            </a:r>
            <a:br/>
            <a:r>
              <a:t>• CBOE SKEW &gt; 145 makes standard OTM S&amp;P 500 put protection exorbitantly expensive.</a:t>
            </a:r>
            <a:br/>
            <a:r>
              <a:t>• Solution: Construct cross-asset tail risk hedges using Crude Oil Volatility (OVX) and Treasury Volatility (MOVE) call options.</a:t>
            </a:r>
            <a:br/>
            <a:br/>
            <a:r>
              <a:t>3. Payoff Asymmetry &amp; Cost Efficiency:</a:t>
            </a:r>
            <a:br/>
            <a:r>
              <a:t>• Reduces negative carry (drag) of hedging by 60% while delivering massive upside payouts during energy/interest rate macroeconomic shock events.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09CFF"/>
                </a:solidFill>
                <a:latin typeface="Inter"/>
              </a:defRPr>
            </a:pPr>
            <a:r>
              <a:t>SECTION 5: STRATEGIC RECOMMENDATIONS   |   AUDIENCE: DEVELOPER AUDIENCE   |   CONFIDENCE SCORE: 0.96</a:t>
            </a:r>
          </a:p>
          <a:p>
            <a:pPr>
              <a:defRPr sz="2200" b="1">
                <a:solidFill>
                  <a:srgbClr val="F2F2F7"/>
                </a:solidFill>
                <a:latin typeface="Inter"/>
              </a:defRPr>
            </a:pPr>
            <a:r>
              <a:t>UI/UX Accessibility Engine &amp; Production Deployment (`ui_theme.py`)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394960" cy="512064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09CFF"/>
                </a:solidFill>
                <a:latin typeface="Inter"/>
              </a:defRPr>
            </a:pPr>
            <a:r>
              <a:t>UI Design System &amp; Accessibility</a:t>
            </a:r>
          </a:p>
          <a:p>
            <a:pPr>
              <a:defRPr sz="1100">
                <a:solidFill>
                  <a:srgbClr val="F2F2F7"/>
                </a:solidFill>
                <a:latin typeface="Inter"/>
              </a:defRPr>
            </a:pPr>
            <a:r>
              <a:t>1. WCAG 2.2 AA Programmatic Compliance (`ui_theme.py`)</a:t>
            </a:r>
            <a:br/>
            <a:r>
              <a:t>• calculate_contrast_ratio &amp; is_wcag_aa_compliant enforce &gt;= 4.5:1 text contrast and &gt;= 3.0:1 UI element contrast.</a:t>
            </a:r>
            <a:br/>
            <a:br/>
            <a:r>
              <a:t>2. Dyslexia-Friendly Typography Stack</a:t>
            </a:r>
            <a:br/>
            <a:r>
              <a:t>• Font Stack: SF Pro Text / Inter / OpenDyslexic.</a:t>
            </a:r>
            <a:br/>
            <a:r>
              <a:t>• Letter Spacing: 0.015em | Line Height: 1.5 body, 1.3 heading.</a:t>
            </a:r>
            <a:br/>
            <a:r>
              <a:t>• Strictly prohibits decorative fonts.</a:t>
            </a:r>
            <a:br/>
            <a:br/>
            <a:r>
              <a:t>3. 8px Base Grid Rhythm &amp; iOS 13+ Visual Styling</a:t>
            </a:r>
            <a:br/>
            <a:r>
              <a:t>• Spacing tokens: 4px, 8px, 16px, 24px, 32px, 48px.</a:t>
            </a:r>
            <a:br/>
            <a:r>
              <a:t>• Card containers: 14px rounded corners with subtle drop shadows.</a:t>
            </a:r>
            <a:br/>
            <a:r>
              <a:t>• Dynamic CSS switcher: Synced with Plotly template (plotly_white vs plotly_dark).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5120640"/>
          </a:xfrm>
          <a:prstGeom prst="roundRect">
            <a:avLst/>
          </a:prstGeom>
          <a:solidFill>
            <a:srgbClr val="15161A"/>
          </a:solidFill>
          <a:ln w="12700">
            <a:solidFill>
              <a:srgbClr val="40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2D74B"/>
                </a:solidFill>
                <a:latin typeface="Inter"/>
              </a:defRPr>
            </a:pPr>
            <a:r>
              <a:t>Python Accessibility Checker Snippet</a:t>
            </a:r>
          </a:p>
          <a:p>
            <a:pPr>
              <a:defRPr sz="1100">
                <a:solidFill>
                  <a:srgbClr val="F2F2F7"/>
                </a:solidFill>
                <a:latin typeface="Courier New"/>
              </a:defRPr>
            </a:pPr>
            <a:r>
              <a:t>```python</a:t>
            </a:r>
            <a:br/>
            <a:r>
              <a:t># ui_theme.py WCAG 2.2 Checker</a:t>
            </a:r>
            <a:br/>
            <a:r>
              <a:t>def calculate_contrast_ratio(hex1, hex2):</a:t>
            </a:r>
            <a:br/>
            <a:r>
              <a:t>    lum1 = relative_luminance(parse_hex_color(hex1))</a:t>
            </a:r>
            <a:br/>
            <a:r>
              <a:t>    lum2 = relative_luminance(parse_hex_color(hex2))</a:t>
            </a:r>
            <a:br/>
            <a:r>
              <a:t>    l1, l2 = max(lum1, lum2), min(lum1, lum2)</a:t>
            </a:r>
            <a:br/>
            <a:r>
              <a:t>    return (l1 + 0.05) / (l2 + 0.05)</a:t>
            </a:r>
            <a:br/>
            <a:br/>
            <a:r>
              <a:t>def is_wcag_aa_compliant(hex_fg, hex_bg,</a:t>
            </a:r>
            <a:br/>
            <a:r>
              <a:t>                        is_large=False):</a:t>
            </a:r>
            <a:br/>
            <a:r>
              <a:t>    ratio = calculate_contrast_ratio(hex_fg, hex_bg)</a:t>
            </a:r>
            <a:br/>
            <a:r>
              <a:t>    return ratio &gt;= (3.0 if is_large else 4.5)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